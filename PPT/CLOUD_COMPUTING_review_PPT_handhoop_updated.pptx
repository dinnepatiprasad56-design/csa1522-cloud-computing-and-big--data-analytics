
<file path=[Content_Types].xml><?xml version="1.0" encoding="utf-8"?>
<Types xmlns="http://schemas.openxmlformats.org/package/2006/content-types">
  <Default Extension="DqsXorjwyFVh8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6" r:id="rId1"/>
  </p:sldMasterIdLst>
  <p:notesMasterIdLst>
    <p:notesMasterId r:id="rId21"/>
  </p:notesMasterIdLst>
  <p:sldIdLst>
    <p:sldId id="289" r:id="rId2"/>
    <p:sldId id="257" r:id="rId3"/>
    <p:sldId id="290" r:id="rId4"/>
    <p:sldId id="259" r:id="rId5"/>
    <p:sldId id="294" r:id="rId6"/>
    <p:sldId id="295" r:id="rId7"/>
    <p:sldId id="296" r:id="rId8"/>
    <p:sldId id="260" r:id="rId9"/>
    <p:sldId id="291" r:id="rId10"/>
    <p:sldId id="292" r:id="rId11"/>
    <p:sldId id="264" r:id="rId12"/>
    <p:sldId id="297" r:id="rId13"/>
    <p:sldId id="298" r:id="rId14"/>
    <p:sldId id="261" r:id="rId15"/>
    <p:sldId id="299" r:id="rId16"/>
    <p:sldId id="300" r:id="rId17"/>
    <p:sldId id="265" r:id="rId18"/>
    <p:sldId id="267" r:id="rId19"/>
    <p:sldId id="293" r:id="rId2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B6D5EA-664B-487D-90F3-62B9ADD7F4F0}" v="4" dt="2026-07-28T17:47:24.586"/>
    <p1510:client id="{FB5DA1E7-3273-4638-973A-523459916C98}" v="27" dt="2026-07-29T04:35:50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82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D26E9-BA8F-E31B-21D7-CE9A5546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9AA4C-2540-19FE-293C-F9108E32B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35BAB-1402-43D3-E669-C7FDF75B4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D5C1A-C522-CC12-B7E4-D2044E66E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40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D5D28-F798-FD30-697D-DE35EAF1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B9A38-EBBA-2131-51BF-DB68F2831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A5038-C06F-3A3F-6E03-498D60A2A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74F30-3822-C83A-DB56-9F29EDCA56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82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5508-3CFF-D885-04E2-6CE1BBFC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542E2-006E-3489-879E-6F01D58F5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9E707-A6E1-4737-C44E-B3C22B0C4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A60C3-7970-EC27-A90D-483A94746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32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97695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7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1043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2698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8979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7253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27588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78159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1580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969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1980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878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280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iantart.com/abstraktpattern/art/Light-Blue-Paper-Texture-288473349" TargetMode="External"/><Relationship Id="rId2" Type="http://schemas.openxmlformats.org/officeDocument/2006/relationships/image" Target="../media/image1.DqsXorjwyFVh8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DqsXorjwyFVh8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www.deviantart.com/abstraktpattern/art/Light-Blue-Paper-Texture-288473349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DqsXorjwyFVh8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hyperlink" Target="https://www.deviantart.com/abstraktpattern/art/Light-Blue-Paper-Texture-288473349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DqsXorjwyFVh8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hyperlink" Target="https://www.deviantart.com/abstraktpattern/art/Light-Blue-Paper-Texture-288473349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iantart.com/abstraktpattern/art/Light-Blue-Paper-Texture-288473349" TargetMode="External"/><Relationship Id="rId2" Type="http://schemas.openxmlformats.org/officeDocument/2006/relationships/image" Target="../media/image1.DqsXorjwyFVh8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iantart.com/abstraktpattern/art/Light-Blue-Paper-Texture-288473349" TargetMode="External"/><Relationship Id="rId2" Type="http://schemas.openxmlformats.org/officeDocument/2006/relationships/image" Target="../media/image1.DqsXorjwyFVh8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iantart.com/abstraktpattern/art/Light-Blue-Paper-Texture-288473349" TargetMode="External"/><Relationship Id="rId2" Type="http://schemas.openxmlformats.org/officeDocument/2006/relationships/image" Target="../media/image1.DqsXorjwyFVh8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DqsXorjwyFVh8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hyperlink" Target="https://www.deviantart.com/abstraktpattern/art/Light-Blue-Paper-Texture-288473349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DqsXorjwyFVh8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hyperlink" Target="https://www.deviantart.com/abstraktpattern/art/Light-Blue-Paper-Texture-288473349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DqsXorjwyFVh8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hyperlink" Target="https://www.deviantart.com/abstraktpattern/art/Light-Blue-Paper-Texture-288473349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DqsXorjwyFVh8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hyperlink" Target="https://www.deviantart.com/abstraktpattern/art/Light-Blue-Paper-Texture-288473349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iantart.com/abstraktpattern/art/Light-Blue-Paper-Texture-288473349" TargetMode="External"/><Relationship Id="rId2" Type="http://schemas.openxmlformats.org/officeDocument/2006/relationships/image" Target="../media/image1.DqsXorjwyFVh8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iantart.com/abstraktpattern/art/Light-Blue-Paper-Texture-288473349" TargetMode="External"/><Relationship Id="rId2" Type="http://schemas.openxmlformats.org/officeDocument/2006/relationships/image" Target="../media/image1.DqsXorjwyFVh8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DqsXorjwyFVh8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hyperlink" Target="https://www.deviantart.com/abstraktpattern/art/Light-Blue-Paper-Texture-288473349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iantart.com/abstraktpattern/art/Light-Blue-Paper-Texture-288473349" TargetMode="External"/><Relationship Id="rId2" Type="http://schemas.openxmlformats.org/officeDocument/2006/relationships/image" Target="../media/image1.DqsXorjwyFVh8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iantart.com/abstraktpattern/art/Light-Blue-Paper-Texture-288473349" TargetMode="External"/><Relationship Id="rId2" Type="http://schemas.openxmlformats.org/officeDocument/2006/relationships/image" Target="../media/image1.DqsXorjwyFVh8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DqsXorjwyFVh8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hyperlink" Target="https://www.deviantart.com/abstraktpattern/art/Light-Blue-Paper-Texture-288473349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DqsXorjwyFVh8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hyperlink" Target="https://www.deviantart.com/abstraktpattern/art/Light-Blue-Paper-Texture-288473349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viantart.com/abstraktpattern/art/Light-Blue-Paper-Texture-288473349" TargetMode="External"/><Relationship Id="rId2" Type="http://schemas.openxmlformats.org/officeDocument/2006/relationships/image" Target="../media/image1.DqsXorjwyFVh8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pexels.com/photo/thank-you-heart-text-791024/" TargetMode="Externa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7094-8701-F282-F96B-11BA02B6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09820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Streaming-Based Real-Time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Data Analytics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0D3E2-F610-2747-1C75-E6CF00CE5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87" y="2571750"/>
            <a:ext cx="7886700" cy="27292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CSA1522-CLOUD COMPUTING &amp; BIG DATA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2EF99-82AA-F1F2-9A6E-5718A160EF18}"/>
              </a:ext>
            </a:extLst>
          </p:cNvPr>
          <p:cNvSpPr txBox="1"/>
          <p:nvPr/>
        </p:nvSpPr>
        <p:spPr>
          <a:xfrm>
            <a:off x="6239022" y="3672812"/>
            <a:ext cx="26376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/>
              <a:t>Name of the student :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Manobhi Ram(192311322)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Sindhu prasad(192311271)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kasif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(192424214)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C0B79C-0873-08C5-C549-9711070DE923}"/>
              </a:ext>
            </a:extLst>
          </p:cNvPr>
          <p:cNvSpPr txBox="1"/>
          <p:nvPr/>
        </p:nvSpPr>
        <p:spPr>
          <a:xfrm>
            <a:off x="628650" y="3672812"/>
            <a:ext cx="20305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/>
              <a:t>Guided by :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Rajaram P </a:t>
            </a:r>
          </a:p>
        </p:txBody>
      </p:sp>
      <p:pic>
        <p:nvPicPr>
          <p:cNvPr id="17" name="Picture 16" descr="Saveetha University">
            <a:extLst>
              <a:ext uri="{FF2B5EF4-FFF2-40B4-BE49-F238E27FC236}">
                <a16:creationId xmlns:a16="http://schemas.microsoft.com/office/drawing/2014/main" id="{4E65343F-AFCE-2551-4001-5C99A7852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874" y="237952"/>
            <a:ext cx="4062270" cy="831193"/>
          </a:xfrm>
          <a:prstGeom prst="rect">
            <a:avLst/>
          </a:prstGeom>
        </p:spPr>
      </p:pic>
      <p:pic>
        <p:nvPicPr>
          <p:cNvPr id="20" name="Picture 19" descr="Admissions — SIMATS">
            <a:extLst>
              <a:ext uri="{FF2B5EF4-FFF2-40B4-BE49-F238E27FC236}">
                <a16:creationId xmlns:a16="http://schemas.microsoft.com/office/drawing/2014/main" id="{76952476-05EE-764E-40A1-59AA06F4F2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4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19" y="565066"/>
            <a:ext cx="782867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Introduction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36D5878-E3A8-758A-AA8F-A6722FC72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10" name="Picture 9" descr="Admissions — SIMATS">
            <a:extLst>
              <a:ext uri="{FF2B5EF4-FFF2-40B4-BE49-F238E27FC236}">
                <a16:creationId xmlns:a16="http://schemas.microsoft.com/office/drawing/2014/main" id="{94DCDD7C-829E-44A1-95C5-E26E65B00F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463" y="90840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17C43D-7953-5BC1-E54E-298B9B3C2AC4}"/>
              </a:ext>
            </a:extLst>
          </p:cNvPr>
          <p:cNvSpPr txBox="1"/>
          <p:nvPr/>
        </p:nvSpPr>
        <p:spPr>
          <a:xfrm>
            <a:off x="631287" y="1070200"/>
            <a:ext cx="7881425" cy="3787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forecasting and climate monitoring require the continuous processing of large volumes of weather data generated from sensors, weather stations, satellites, and IoT devices.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face challenges in handling high-speed data streams efficiently.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 enables real-time processing of weather information using distributed computing, allowing quick analysis of temperature, humidity, rainfall, wind speed, and atmospheric pressure for accurate forecasting and decision-making.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8966B-5E45-C503-F811-0B60D711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0DA9B9C-9C1F-C1B6-ABBC-088B0E145F98}"/>
              </a:ext>
            </a:extLst>
          </p:cNvPr>
          <p:cNvSpPr/>
          <p:nvPr/>
        </p:nvSpPr>
        <p:spPr>
          <a:xfrm>
            <a:off x="254881" y="703681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Abstract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3F807FF4-D4C7-17C6-A289-C41F49E559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D77DB304-48B3-37F1-090D-E176DD71B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1F0D18-9889-2140-D361-BE8DAD21DC8D}"/>
              </a:ext>
            </a:extLst>
          </p:cNvPr>
          <p:cNvSpPr txBox="1"/>
          <p:nvPr/>
        </p:nvSpPr>
        <p:spPr>
          <a:xfrm>
            <a:off x="606574" y="1083210"/>
            <a:ext cx="8229600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 monitoring supports agriculture, disaster management, transportation, and environmental studies.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Hadoop Streaming and MapReduce to process weather data from multiple sources.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analyzes temperature, humidity, rainfall, wind speed, and atmospheric pressure.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weather trends and abnormal climatic conditions.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storage and parallel processing provide scalable, reliable, and efficient analytics.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enables real-time insights for smart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82237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07962"/>
            <a:ext cx="8229600" cy="64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25D29680-F82F-FC94-45D9-9EE4EC3C5E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919" y="70338"/>
            <a:ext cx="4333505" cy="4994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22FF8738-7510-5CB8-1AAB-0EDE88D22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400630-22AB-53EF-E8DD-7AB0B0AB996D}"/>
              </a:ext>
            </a:extLst>
          </p:cNvPr>
          <p:cNvSpPr txBox="1"/>
          <p:nvPr/>
        </p:nvSpPr>
        <p:spPr>
          <a:xfrm>
            <a:off x="474786" y="635528"/>
            <a:ext cx="7744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ECE05-AD0A-7F29-5B95-27F8F5F0C517}"/>
              </a:ext>
            </a:extLst>
          </p:cNvPr>
          <p:cNvSpPr txBox="1"/>
          <p:nvPr/>
        </p:nvSpPr>
        <p:spPr>
          <a:xfrm>
            <a:off x="153170" y="564059"/>
            <a:ext cx="5358455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Hadoop-based weather analytics system.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weather data using Hadoop Streaming.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weather parameters in real time.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large-scale weather datasets efficiently.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weather trends and reports.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forecasting accuracy using distributed computing.</a:t>
            </a: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97BF12-C758-7089-4176-1C0365452B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795" b="-938"/>
          <a:stretch>
            <a:fillRect/>
          </a:stretch>
        </p:blipFill>
        <p:spPr>
          <a:xfrm>
            <a:off x="5585577" y="1545476"/>
            <a:ext cx="3438847" cy="26545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8966B-5E45-C503-F811-0B60D711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0DA9B9C-9C1F-C1B6-ABBC-088B0E145F98}"/>
              </a:ext>
            </a:extLst>
          </p:cNvPr>
          <p:cNvSpPr/>
          <p:nvPr/>
        </p:nvSpPr>
        <p:spPr>
          <a:xfrm>
            <a:off x="254881" y="703681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Literature Review / Background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3F807FF4-D4C7-17C6-A289-C41F49E55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D77DB304-48B3-37F1-090D-E176DD71B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1F0D18-9889-2140-D361-BE8DAD21DC8D}"/>
              </a:ext>
            </a:extLst>
          </p:cNvPr>
          <p:cNvSpPr txBox="1"/>
          <p:nvPr/>
        </p:nvSpPr>
        <p:spPr>
          <a:xfrm>
            <a:off x="606574" y="1270598"/>
            <a:ext cx="8229600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weather-monitoring systems mostly use centralized servers, which struggle with continuous, high-speed sensor data.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and MapReduce offer a proven distributed model for processing large-scale datasets across clusters.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 lets Mapper and Reducer logic run as simple scripts, without full Java MapReduce programs.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provides fault-tolerant, distributed storage suited to large, growing weather archives.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work studies temperature, humidity, rainfall, wind speed, and atmospheric pressure to detect climatic patterns.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 need for a scalable, script-based, real-time pipeline unifying ingestion, storage, and analytics for weather data.</a:t>
            </a:r>
          </a:p>
        </p:txBody>
      </p:sp>
    </p:spTree>
    <p:extLst>
      <p:ext uri="{BB962C8B-B14F-4D97-AF65-F5344CB8AC3E}">
        <p14:creationId xmlns:p14="http://schemas.microsoft.com/office/powerpoint/2010/main" val="822373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801259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US" sz="24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100" name="Stage1"/>
          <p:cNvSpPr/>
          <p:nvPr/>
        </p:nvSpPr>
        <p:spPr>
          <a:xfrm>
            <a:off x="350000" y="130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Sensors / APIs</a:t>
            </a:r>
          </a:p>
        </p:txBody>
      </p:sp>
      <p:sp>
        <p:nvSpPr>
          <p:cNvPr id="101" name="Arrow1"/>
          <p:cNvSpPr/>
          <p:nvPr/>
        </p:nvSpPr>
        <p:spPr>
          <a:xfrm>
            <a:off x="1945000" y="163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tage2"/>
          <p:cNvSpPr/>
          <p:nvPr/>
        </p:nvSpPr>
        <p:spPr>
          <a:xfrm>
            <a:off x="350000" y="171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103" name="Arrow2"/>
          <p:cNvSpPr/>
          <p:nvPr/>
        </p:nvSpPr>
        <p:spPr>
          <a:xfrm>
            <a:off x="1945000" y="204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tage3"/>
          <p:cNvSpPr/>
          <p:nvPr/>
        </p:nvSpPr>
        <p:spPr>
          <a:xfrm>
            <a:off x="350000" y="212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&amp; Preprocessing</a:t>
            </a:r>
          </a:p>
        </p:txBody>
      </p:sp>
      <p:sp>
        <p:nvSpPr>
          <p:cNvPr id="105" name="Arrow3"/>
          <p:cNvSpPr/>
          <p:nvPr/>
        </p:nvSpPr>
        <p:spPr>
          <a:xfrm>
            <a:off x="1945000" y="245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tage4"/>
          <p:cNvSpPr/>
          <p:nvPr/>
        </p:nvSpPr>
        <p:spPr>
          <a:xfrm>
            <a:off x="350000" y="253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Storage</a:t>
            </a:r>
          </a:p>
        </p:txBody>
      </p:sp>
      <p:sp>
        <p:nvSpPr>
          <p:cNvPr id="107" name="Arrow4"/>
          <p:cNvSpPr/>
          <p:nvPr/>
        </p:nvSpPr>
        <p:spPr>
          <a:xfrm>
            <a:off x="1945000" y="286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Stage5"/>
          <p:cNvSpPr/>
          <p:nvPr/>
        </p:nvSpPr>
        <p:spPr>
          <a:xfrm>
            <a:off x="350000" y="294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 Mapper</a:t>
            </a:r>
          </a:p>
        </p:txBody>
      </p:sp>
      <p:sp>
        <p:nvSpPr>
          <p:cNvPr id="109" name="Arrow5"/>
          <p:cNvSpPr/>
          <p:nvPr/>
        </p:nvSpPr>
        <p:spPr>
          <a:xfrm>
            <a:off x="1945000" y="327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tage6"/>
          <p:cNvSpPr/>
          <p:nvPr/>
        </p:nvSpPr>
        <p:spPr>
          <a:xfrm>
            <a:off x="350000" y="335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Shuffle &amp; Sort</a:t>
            </a:r>
          </a:p>
        </p:txBody>
      </p:sp>
      <p:sp>
        <p:nvSpPr>
          <p:cNvPr id="111" name="Arrow6"/>
          <p:cNvSpPr/>
          <p:nvPr/>
        </p:nvSpPr>
        <p:spPr>
          <a:xfrm>
            <a:off x="1945000" y="368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Stage7"/>
          <p:cNvSpPr/>
          <p:nvPr/>
        </p:nvSpPr>
        <p:spPr>
          <a:xfrm>
            <a:off x="350000" y="376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Reducer</a:t>
            </a:r>
          </a:p>
        </p:txBody>
      </p:sp>
      <p:sp>
        <p:nvSpPr>
          <p:cNvPr id="113" name="Arrow7"/>
          <p:cNvSpPr/>
          <p:nvPr/>
        </p:nvSpPr>
        <p:spPr>
          <a:xfrm>
            <a:off x="1945000" y="409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Stage8"/>
          <p:cNvSpPr/>
          <p:nvPr/>
        </p:nvSpPr>
        <p:spPr>
          <a:xfrm>
            <a:off x="350000" y="417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Analytics</a:t>
            </a:r>
          </a:p>
        </p:txBody>
      </p:sp>
      <p:sp>
        <p:nvSpPr>
          <p:cNvPr id="115" name="Arrow8"/>
          <p:cNvSpPr/>
          <p:nvPr/>
        </p:nvSpPr>
        <p:spPr>
          <a:xfrm>
            <a:off x="1945000" y="4500000"/>
            <a:ext cx="260000" cy="8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Stage9"/>
          <p:cNvSpPr/>
          <p:nvPr/>
        </p:nvSpPr>
        <p:spPr>
          <a:xfrm>
            <a:off x="350000" y="4580000"/>
            <a:ext cx="3450000" cy="33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/ Dashboard / Alerts</a:t>
            </a:r>
          </a:p>
        </p:txBody>
      </p:sp>
      <p:sp>
        <p:nvSpPr>
          <p:cNvPr id="200" name="KeyStagesBox"/>
          <p:cNvSpPr txBox="1"/>
          <p:nvPr/>
        </p:nvSpPr>
        <p:spPr>
          <a:xfrm>
            <a:off x="4100000" y="1300000"/>
            <a:ext cx="4650000" cy="3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Processing Stages: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and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801259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/ Architecture</a:t>
            </a:r>
          </a:p>
          <a:p>
            <a:pPr algn="ctr"/>
            <a:endParaRPr lang="en-US" sz="24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100" name="Arch1"/>
          <p:cNvSpPr/>
          <p:nvPr/>
        </p:nvSpPr>
        <p:spPr>
          <a:xfrm>
            <a:off x="350000" y="1300000"/>
            <a:ext cx="3600000" cy="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Sensors / APIs</a:t>
            </a:r>
          </a:p>
        </p:txBody>
      </p:sp>
      <p:sp>
        <p:nvSpPr>
          <p:cNvPr id="101" name="ArchArrow1"/>
          <p:cNvSpPr/>
          <p:nvPr/>
        </p:nvSpPr>
        <p:spPr>
          <a:xfrm>
            <a:off x="2020000" y="1780000"/>
            <a:ext cx="260000" cy="11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Arch2"/>
          <p:cNvSpPr/>
          <p:nvPr/>
        </p:nvSpPr>
        <p:spPr>
          <a:xfrm>
            <a:off x="350000" y="1890000"/>
            <a:ext cx="3600000" cy="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Layer</a:t>
            </a:r>
          </a:p>
        </p:txBody>
      </p:sp>
      <p:sp>
        <p:nvSpPr>
          <p:cNvPr id="103" name="ArchArrow2"/>
          <p:cNvSpPr/>
          <p:nvPr/>
        </p:nvSpPr>
        <p:spPr>
          <a:xfrm>
            <a:off x="2020000" y="2370000"/>
            <a:ext cx="260000" cy="11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Arch3"/>
          <p:cNvSpPr/>
          <p:nvPr/>
        </p:nvSpPr>
        <p:spPr>
          <a:xfrm>
            <a:off x="350000" y="2480000"/>
            <a:ext cx="3600000" cy="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Distributed Storage</a:t>
            </a:r>
          </a:p>
        </p:txBody>
      </p:sp>
      <p:sp>
        <p:nvSpPr>
          <p:cNvPr id="105" name="ArchArrow3"/>
          <p:cNvSpPr/>
          <p:nvPr/>
        </p:nvSpPr>
        <p:spPr>
          <a:xfrm>
            <a:off x="2020000" y="2960000"/>
            <a:ext cx="260000" cy="11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Arch4"/>
          <p:cNvSpPr/>
          <p:nvPr/>
        </p:nvSpPr>
        <p:spPr>
          <a:xfrm>
            <a:off x="350000" y="3070000"/>
            <a:ext cx="3600000" cy="480000"/>
          </a:xfrm>
          <a:prstGeom prst="rect">
            <a:avLst/>
          </a:prstGeom>
          <a:solidFill>
            <a:srgbClr val="EAF1FB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Streaming: Mapper → Shuffle &amp; Sort → Reducer</a:t>
            </a:r>
          </a:p>
        </p:txBody>
      </p:sp>
      <p:sp>
        <p:nvSpPr>
          <p:cNvPr id="107" name="ArchArrow4"/>
          <p:cNvSpPr/>
          <p:nvPr/>
        </p:nvSpPr>
        <p:spPr>
          <a:xfrm>
            <a:off x="2020000" y="3550000"/>
            <a:ext cx="260000" cy="11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Arch5"/>
          <p:cNvSpPr/>
          <p:nvPr/>
        </p:nvSpPr>
        <p:spPr>
          <a:xfrm>
            <a:off x="350000" y="3660000"/>
            <a:ext cx="3600000" cy="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Analytics</a:t>
            </a:r>
          </a:p>
        </p:txBody>
      </p:sp>
      <p:sp>
        <p:nvSpPr>
          <p:cNvPr id="109" name="ArchArrow5"/>
          <p:cNvSpPr/>
          <p:nvPr/>
        </p:nvSpPr>
        <p:spPr>
          <a:xfrm>
            <a:off x="2020000" y="4140000"/>
            <a:ext cx="260000" cy="110000"/>
          </a:xfrm>
          <a:prstGeom prst="down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Arch6"/>
          <p:cNvSpPr/>
          <p:nvPr/>
        </p:nvSpPr>
        <p:spPr>
          <a:xfrm>
            <a:off x="350000" y="4250000"/>
            <a:ext cx="3600000" cy="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/ Reports / Alerts</a:t>
            </a:r>
          </a:p>
        </p:txBody>
      </p:sp>
      <p:sp>
        <p:nvSpPr>
          <p:cNvPr id="200" name="TechBox"/>
          <p:cNvSpPr txBox="1"/>
          <p:nvPr/>
        </p:nvSpPr>
        <p:spPr>
          <a:xfrm>
            <a:off x="4300000" y="1300000"/>
            <a:ext cx="4450000" cy="3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Technologies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HDFS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801259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Cloud-Based Data Acquisition and Storage</a:t>
            </a:r>
          </a:p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1" y="1371599"/>
            <a:ext cx="3763107" cy="36810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(°C)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(%)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(mm)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 Speed (km/h)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Atmospheric Pressure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hPa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weather data from sensors/API.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preprocess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data in HDFS.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historical weather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1D592F-4800-71E4-09A0-BBA9012142EA}"/>
              </a:ext>
            </a:extLst>
          </p:cNvPr>
          <p:cNvSpPr txBox="1"/>
          <p:nvPr/>
        </p:nvSpPr>
        <p:spPr>
          <a:xfrm>
            <a:off x="4572000" y="1479919"/>
            <a:ext cx="35309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weather database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 data availability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weather repositor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handhoop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Concepts Used: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Storage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568F4-9537-9BBE-8E77-0E944199A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731462E-ADC6-4F16-DB5F-A47D4D4CEE02}"/>
              </a:ext>
            </a:extLst>
          </p:cNvPr>
          <p:cNvSpPr/>
          <p:nvPr/>
        </p:nvSpPr>
        <p:spPr>
          <a:xfrm>
            <a:off x="355209" y="689617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Weather Data Analysis and Trend Detection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4068C86-17F1-551D-B9DF-D917A8D46A55}"/>
              </a:ext>
            </a:extLst>
          </p:cNvPr>
          <p:cNvSpPr/>
          <p:nvPr/>
        </p:nvSpPr>
        <p:spPr>
          <a:xfrm>
            <a:off x="457201" y="1389784"/>
            <a:ext cx="3467685" cy="36329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 Speed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weather data from HDFS.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Mapper using Hadoop Streaming.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results using Reducer.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weather trends. 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A2EB42FF-58FD-8209-D7CB-72F14A4895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5D3C0A79-0557-F009-12CB-1D76CB464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99D280-32C2-97B9-D700-4BF9BB40AFF5}"/>
              </a:ext>
            </a:extLst>
          </p:cNvPr>
          <p:cNvSpPr txBox="1"/>
          <p:nvPr/>
        </p:nvSpPr>
        <p:spPr>
          <a:xfrm>
            <a:off x="4470009" y="1389784"/>
            <a:ext cx="457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Temperature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Statistics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Trend Report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</a:t>
            </a:r>
          </a:p>
        </p:txBody>
      </p:sp>
    </p:spTree>
    <p:extLst>
      <p:ext uri="{BB962C8B-B14F-4D97-AF65-F5344CB8AC3E}">
        <p14:creationId xmlns:p14="http://schemas.microsoft.com/office/powerpoint/2010/main" val="75818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A06C2-C02C-6D48-8412-CE561BA8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2AF1F51-C6EB-0202-333A-01EB408305AD}"/>
              </a:ext>
            </a:extLst>
          </p:cNvPr>
          <p:cNvSpPr/>
          <p:nvPr/>
        </p:nvSpPr>
        <p:spPr>
          <a:xfrm>
            <a:off x="355209" y="689617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Cloud-Based Recommendation and Monitoring System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A9519EB-7E14-9F58-4AE5-7851FCBBC64D}"/>
              </a:ext>
            </a:extLst>
          </p:cNvPr>
          <p:cNvSpPr/>
          <p:nvPr/>
        </p:nvSpPr>
        <p:spPr>
          <a:xfrm>
            <a:off x="355209" y="1361049"/>
            <a:ext cx="452979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analyzed weather reports.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weather continuously.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graphical reports.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processed results.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weather alerts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Dashboard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Trends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Analysis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Alerts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7447675B-4BCD-8C2F-0BFF-DB23062B1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24D146C1-B978-92CE-E606-DC8DF5939E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D18C4D-9275-8C27-4436-8041E4BE4387}"/>
              </a:ext>
            </a:extLst>
          </p:cNvPr>
          <p:cNvSpPr txBox="1"/>
          <p:nvPr/>
        </p:nvSpPr>
        <p:spPr>
          <a:xfrm>
            <a:off x="5528602" y="1494362"/>
            <a:ext cx="39811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Handhoop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Concepts Used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Processing </a:t>
            </a:r>
          </a:p>
        </p:txBody>
      </p:sp>
    </p:spTree>
    <p:extLst>
      <p:ext uri="{BB962C8B-B14F-4D97-AF65-F5344CB8AC3E}">
        <p14:creationId xmlns:p14="http://schemas.microsoft.com/office/powerpoint/2010/main" val="1782216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90810" y="3886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695038" y="1146516"/>
            <a:ext cx="7546754" cy="37701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adoop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HDFS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File System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Techniques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Deviation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EAD7DE1C-7AC9-0271-EED6-CEECE7E19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920" y="49237"/>
            <a:ext cx="4062270" cy="48533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BBF5D320-9BA9-E228-0E05-56BE499CBE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A2BB36-BC9F-C98C-6E6A-3DD3A6CC78DA}"/>
              </a:ext>
            </a:extLst>
          </p:cNvPr>
          <p:cNvSpPr txBox="1"/>
          <p:nvPr/>
        </p:nvSpPr>
        <p:spPr>
          <a:xfrm>
            <a:off x="2319195" y="542206"/>
            <a:ext cx="45056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A70750-0931-80B9-432A-01EEB3E3072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851"/>
          <a:stretch>
            <a:fillRect/>
          </a:stretch>
        </p:blipFill>
        <p:spPr>
          <a:xfrm>
            <a:off x="3940790" y="1211580"/>
            <a:ext cx="4414637" cy="36252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801259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1" y="1371599"/>
            <a:ext cx="3763107" cy="36810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weather data from sensors/APIs.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preprocess weather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datasets to HDFS.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Mapper and Reducer scripts.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1D592F-4800-71E4-09A0-BBA9012142EA}"/>
              </a:ext>
            </a:extLst>
          </p:cNvPr>
          <p:cNvSpPr txBox="1"/>
          <p:nvPr/>
        </p:nvSpPr>
        <p:spPr>
          <a:xfrm>
            <a:off x="4572000" y="1479919"/>
            <a:ext cx="35309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&amp; 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Hadoop Streaming jobs.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temperature, rainfall, humidity and other weather statistics.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processed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and visualizations.</a:t>
            </a:r>
          </a:p>
        </p:txBody>
      </p:sp>
      <p:sp>
        <p:nvSpPr>
          <p:cNvPr id="201" name="CodeBox"/>
          <p:cNvSpPr txBox="1"/>
          <p:nvPr/>
        </p:nvSpPr>
        <p:spPr>
          <a:xfrm>
            <a:off x="350000" y="4620000"/>
            <a:ext cx="8400000" cy="380000"/>
          </a:xfrm>
          <a:prstGeom prst="rect">
            <a:avLst/>
          </a:prstGeom>
          <a:solidFill>
            <a:srgbClr val="F2F2F2"/>
          </a:solidFill>
          <a:ln w="9525">
            <a:solidFill>
              <a:srgbClr val="808080"/>
            </a:solidFill>
          </a:ln>
        </p:spPr>
        <p:txBody>
          <a:bodyPr wrap="square" lIns="91440" tIns="27432" rIns="91440" bIns="27432" anchor="ctr">
            <a:normAutofit fontScale="90000"/>
          </a:bodyPr>
          <a:lstStyle/>
          <a:p>
            <a:pPr>
              <a:buNone/>
            </a:pPr>
            <a:r>
              <a:rPr lang="en-US" sz="1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Hadoop Streaming command (illustrative syntax):</a:t>
            </a:r>
          </a:p>
          <a:p>
            <a:pPr>
              <a:buNone/>
            </a:pPr>
            <a:r>
              <a:rPr lang="en-US" sz="950" dirty="0">
                <a:latin typeface="Courier New" panose="02070309020205020404" pitchFamily="49" charset="0"/>
                <a:cs typeface="Courier New" panose="02070309020205020404" pitchFamily="49" charset="0"/>
              </a:rPr>
              <a:t>hadoop jar hadoop-streaming.jar -input /weather/input -output /weather/output -mapper mapper.py -reducer reducer.py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801259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1" y="1371599"/>
            <a:ext cx="3763107" cy="36810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 Analysis: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statistics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trend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alerts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reports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processing provides scalable weather-data analysis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00" name="Card300"/>
          <p:cNvSpPr/>
          <p:nvPr/>
        </p:nvSpPr>
        <p:spPr>
          <a:xfrm>
            <a:off x="4550000" y="1500000"/>
            <a:ext cx="2100000" cy="900000"/>
          </a:xfrm>
          <a:prstGeom prst="rect">
            <a:avLst/>
          </a:prstGeom>
          <a:solidFill>
            <a:srgbClr val="F5F8FC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Trends</a:t>
            </a:r>
          </a:p>
        </p:txBody>
      </p:sp>
      <p:sp>
        <p:nvSpPr>
          <p:cNvPr id="301" name="Card301"/>
          <p:cNvSpPr/>
          <p:nvPr/>
        </p:nvSpPr>
        <p:spPr>
          <a:xfrm>
            <a:off x="6870000" y="1500000"/>
            <a:ext cx="2100000" cy="900000"/>
          </a:xfrm>
          <a:prstGeom prst="rect">
            <a:avLst/>
          </a:prstGeom>
          <a:solidFill>
            <a:srgbClr val="F5F8FC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Reports</a:t>
            </a:r>
          </a:p>
        </p:txBody>
      </p:sp>
      <p:sp>
        <p:nvSpPr>
          <p:cNvPr id="302" name="Card302"/>
          <p:cNvSpPr/>
          <p:nvPr/>
        </p:nvSpPr>
        <p:spPr>
          <a:xfrm>
            <a:off x="4550000" y="2620000"/>
            <a:ext cx="2100000" cy="900000"/>
          </a:xfrm>
          <a:prstGeom prst="rect">
            <a:avLst/>
          </a:prstGeom>
          <a:solidFill>
            <a:srgbClr val="F5F8FC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Analysis</a:t>
            </a:r>
          </a:p>
        </p:txBody>
      </p:sp>
      <p:sp>
        <p:nvSpPr>
          <p:cNvPr id="303" name="Card303"/>
          <p:cNvSpPr/>
          <p:nvPr/>
        </p:nvSpPr>
        <p:spPr>
          <a:xfrm>
            <a:off x="6870000" y="2620000"/>
            <a:ext cx="2100000" cy="900000"/>
          </a:xfrm>
          <a:prstGeom prst="rect">
            <a:avLst/>
          </a:prstGeom>
          <a:solidFill>
            <a:srgbClr val="F5F8FC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Alerts</a:t>
            </a:r>
          </a:p>
        </p:txBody>
      </p:sp>
      <p:sp>
        <p:nvSpPr>
          <p:cNvPr id="399" name="Caption"/>
          <p:cNvSpPr txBox="1"/>
          <p:nvPr/>
        </p:nvSpPr>
        <p:spPr>
          <a:xfrm>
            <a:off x="4550000" y="3800000"/>
            <a:ext cx="442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report categories — conceptual, not based on measured project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64234"/>
            <a:ext cx="8229600" cy="587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India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45481" y="1198180"/>
            <a:ext cx="3566509" cy="40811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will this help India?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weather forecasting accuracy.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precision agriculture.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flood and cyclone prediction.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disaster management authorities.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smart city applications. 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84425623-525D-AA26-9F21-A98065FA22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920" y="70338"/>
            <a:ext cx="4114800" cy="506437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AC4644FE-3C24-6480-0D3A-3F26E0F395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51E463-8AA4-0EF2-E916-C81D5C89F3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3247" y="1336917"/>
            <a:ext cx="4122473" cy="32012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8966B-5E45-C503-F811-0B60D711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0DA9B9C-9C1F-C1B6-ABBC-088B0E145F98}"/>
              </a:ext>
            </a:extLst>
          </p:cNvPr>
          <p:cNvSpPr/>
          <p:nvPr/>
        </p:nvSpPr>
        <p:spPr>
          <a:xfrm>
            <a:off x="254881" y="703681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Challenges &amp; Limitations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3F807FF4-D4C7-17C6-A289-C41F49E55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D77DB304-48B3-37F1-090D-E176DD71B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1F0D18-9889-2140-D361-BE8DAD21DC8D}"/>
              </a:ext>
            </a:extLst>
          </p:cNvPr>
          <p:cNvSpPr txBox="1"/>
          <p:nvPr/>
        </p:nvSpPr>
        <p:spPr>
          <a:xfrm>
            <a:off x="606574" y="1392700"/>
            <a:ext cx="8229600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continuous, high-volume weather data from multiple sensors and APIs.</a:t>
            </a:r>
          </a:p>
          <a:p>
            <a:pPr marL="285750" indent="-285750" algn="just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and preprocessing to remove noisy or missing sensor readings.</a:t>
            </a:r>
          </a:p>
          <a:p>
            <a:pPr marL="285750" indent="-285750" algn="just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system configuration and management across the Hadoop cluster.</a:t>
            </a:r>
          </a:p>
          <a:p>
            <a:pPr marL="285750" indent="-285750" algn="just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large datasets efficiently within acceptable time limits.</a:t>
            </a:r>
          </a:p>
          <a:p>
            <a:pPr marL="285750" indent="-285750" algn="just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reliable, fault-tolerant HDFS storage as data volumes grow.</a:t>
            </a:r>
          </a:p>
          <a:p>
            <a:pPr marL="285750" indent="-285750" algn="just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requirements demanding low-latency ingestion and analysis.</a:t>
            </a:r>
          </a:p>
          <a:p>
            <a:pPr marL="285750" indent="-285750" algn="just">
              <a:lnSpc>
                <a:spcPct val="112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the availability and quality of external weather data sources.</a:t>
            </a:r>
          </a:p>
        </p:txBody>
      </p:sp>
    </p:spTree>
    <p:extLst>
      <p:ext uri="{BB962C8B-B14F-4D97-AF65-F5344CB8AC3E}">
        <p14:creationId xmlns:p14="http://schemas.microsoft.com/office/powerpoint/2010/main" val="822373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801259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1" y="1371599"/>
            <a:ext cx="3763107" cy="36810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live weather APIs and IoT sensors.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advanced real-time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Machine-learning-based weather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graphical dashboards.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1D592F-4800-71E4-09A0-BBA9012142EA}"/>
              </a:ext>
            </a:extLst>
          </p:cNvPr>
          <p:cNvSpPr txBox="1"/>
          <p:nvPr/>
        </p:nvSpPr>
        <p:spPr>
          <a:xfrm>
            <a:off x="4572000" y="1479919"/>
            <a:ext cx="353099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weather alerts.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smart agriculture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Flood, cyclone and extreme-weather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Cloud-scale deployment for larger datasets.</a:t>
            </a:r>
          </a:p>
        </p:txBody>
      </p:sp>
      <p:sp>
        <p:nvSpPr>
          <p:cNvPr id="400" name="Road400"/>
          <p:cNvSpPr/>
          <p:nvPr/>
        </p:nvSpPr>
        <p:spPr>
          <a:xfrm>
            <a:off x="350000" y="4550000"/>
            <a:ext cx="2450000" cy="420000"/>
          </a:xfrm>
          <a:prstGeom prst="rect">
            <a:avLst/>
          </a:prstGeom>
          <a:solidFill>
            <a:srgbClr val="EAF1FB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</a:t>
            </a:r>
          </a:p>
        </p:txBody>
      </p:sp>
      <p:sp>
        <p:nvSpPr>
          <p:cNvPr id="401" name="RoadArrow401"/>
          <p:cNvSpPr/>
          <p:nvPr/>
        </p:nvSpPr>
        <p:spPr>
          <a:xfrm>
            <a:off x="2800000" y="4690000"/>
            <a:ext cx="180000" cy="1400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2" name="Road402"/>
          <p:cNvSpPr/>
          <p:nvPr/>
        </p:nvSpPr>
        <p:spPr>
          <a:xfrm>
            <a:off x="2980000" y="4550000"/>
            <a:ext cx="2450000" cy="420000"/>
          </a:xfrm>
          <a:prstGeom prst="rect">
            <a:avLst/>
          </a:prstGeom>
          <a:solidFill>
            <a:srgbClr val="EAF1FB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Near-Term Enhancements</a:t>
            </a:r>
          </a:p>
        </p:txBody>
      </p:sp>
      <p:sp>
        <p:nvSpPr>
          <p:cNvPr id="403" name="RoadArrow403"/>
          <p:cNvSpPr/>
          <p:nvPr/>
        </p:nvSpPr>
        <p:spPr>
          <a:xfrm>
            <a:off x="5430000" y="4690000"/>
            <a:ext cx="180000" cy="1400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4" name="Road404"/>
          <p:cNvSpPr/>
          <p:nvPr/>
        </p:nvSpPr>
        <p:spPr>
          <a:xfrm>
            <a:off x="5610000" y="4550000"/>
            <a:ext cx="2450000" cy="420000"/>
          </a:xfrm>
          <a:prstGeom prst="rect">
            <a:avLst/>
          </a:prstGeom>
          <a:solidFill>
            <a:srgbClr val="EAF1FB"/>
          </a:solidFill>
          <a:ln w="9525">
            <a:solidFill>
              <a:srgbClr val="000000"/>
            </a:solidFill>
          </a:ln>
        </p:spPr>
        <p:txBody>
          <a:bodyPr wrap="square" lIns="36000" tIns="18000" rIns="36000" bIns="18000" anchor="ctr" anchorCtr="0">
            <a:normAutofit/>
          </a:bodyPr>
          <a:lstStyle/>
          <a:p>
            <a:pPr algn="ctr">
              <a:buNone/>
            </a:pPr>
            <a:r>
              <a:rPr lang="en-US" sz="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Vision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90395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542925" y="1280759"/>
            <a:ext cx="829599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efficient and scalable solution for real-time weather data processing.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Hadoop Streaming, HDFS, and MapReduce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distributed storage and fast processing.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accurate weather trend analysis and timely forecasting.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disaster preparedness, agricultural planning, and environmental monitoring.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 through reliable real-time analytics.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use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and big data technologies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weather data.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AB78A499-A10B-1964-FF2B-15764B2F7E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920" y="70339"/>
            <a:ext cx="4062270" cy="471267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B7E3E331-02E3-7373-5BCE-248788A12F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810" y="3974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276643"/>
            <a:ext cx="745587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V.K. Jain,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and Hadoop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Khanna Publishing House, 2017.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Software Foundation,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Hadoop Documentation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Apache Software Foundation.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 Digital Library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Research articles on Hadoop Streaming, MapReduce, Big Data Analytics, and Real-Time Weather Data Processing. 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Digital Library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Research articles on Distributed Computing, Hadoop-Based Weather Forecasting, and Big Data Analytics.</a:t>
            </a: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Donald Miner and Adam Shook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MapReduce Design Patterns: Building Effective Algorithms and Analytics for Hadoop and Other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O'Reilly Media, 2012.</a:t>
            </a:r>
          </a:p>
        </p:txBody>
      </p:sp>
      <p:pic>
        <p:nvPicPr>
          <p:cNvPr id="5" name="Picture 4" descr="Admissions — SIMATS">
            <a:extLst>
              <a:ext uri="{FF2B5EF4-FFF2-40B4-BE49-F238E27FC236}">
                <a16:creationId xmlns:a16="http://schemas.microsoft.com/office/drawing/2014/main" id="{2A2A853D-CA2F-3C99-F5B8-BBA1FB7B3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920" y="56271"/>
            <a:ext cx="4062270" cy="492370"/>
          </a:xfrm>
          <a:prstGeom prst="rect">
            <a:avLst/>
          </a:prstGeom>
        </p:spPr>
      </p:pic>
      <p:pic>
        <p:nvPicPr>
          <p:cNvPr id="7" name="Picture 6" descr="Saveetha University">
            <a:extLst>
              <a:ext uri="{FF2B5EF4-FFF2-40B4-BE49-F238E27FC236}">
                <a16:creationId xmlns:a16="http://schemas.microsoft.com/office/drawing/2014/main" id="{E5C893BA-9E02-B0BF-6892-74AACA68C0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518187-342B-41F0-4007-369623DC5D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36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1670</TotalTime>
  <Words>1227</Words>
  <Application>Microsoft Office PowerPoint</Application>
  <PresentationFormat>On-screen Show (16:9)</PresentationFormat>
  <Paragraphs>225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Courier New</vt:lpstr>
      <vt:lpstr>Times New Roman</vt:lpstr>
      <vt:lpstr>Office Theme</vt:lpstr>
      <vt:lpstr>Hadoop Streaming-Based Real-Time Weather Data Analytics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An Intelligent Smart Agriculture Management System Using Data Structures A</dc:title>
  <dc:subject>Design And Development Of An Intelligent Smart Agriculture Management System Using Data Structures A</dc:subject>
  <dc:creator>SlideMake.com</dc:creator>
  <cp:lastModifiedBy>Dinnepati Prasad</cp:lastModifiedBy>
  <cp:revision>33</cp:revision>
  <dcterms:created xsi:type="dcterms:W3CDTF">2026-07-22T02:09:05Z</dcterms:created>
  <dcterms:modified xsi:type="dcterms:W3CDTF">2026-08-27T02:57:22Z</dcterms:modified>
</cp:coreProperties>
</file>